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3"/>
  </p:notesMasterIdLst>
  <p:sldIdLst>
    <p:sldId id="257" r:id="rId2"/>
  </p:sldIdLst>
  <p:sldSz cx="10691813" cy="15117763"/>
  <p:notesSz cx="7099300" cy="10234613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312">
          <p15:clr>
            <a:srgbClr val="000000"/>
          </p15:clr>
        </p15:guide>
        <p15:guide id="2" orient="horz" pos="232">
          <p15:clr>
            <a:srgbClr val="000000"/>
          </p15:clr>
        </p15:guide>
        <p15:guide id="3" orient="horz" pos="8880">
          <p15:clr>
            <a:srgbClr val="000000"/>
          </p15:clr>
        </p15:guide>
        <p15:guide id="4" pos="3366">
          <p15:clr>
            <a:srgbClr val="000000"/>
          </p15:clr>
        </p15:guide>
        <p15:guide id="5" pos="240">
          <p15:clr>
            <a:srgbClr val="000000"/>
          </p15:clr>
        </p15:guide>
        <p15:guide id="6" pos="6506">
          <p15:clr>
            <a:srgbClr val="000000"/>
          </p15:clr>
        </p15:guide>
        <p15:guide id="7" pos="3186">
          <p15:clr>
            <a:srgbClr val="000000"/>
          </p15:clr>
        </p15:guide>
        <p15:guide id="8" pos="3552">
          <p15:clr>
            <a:srgbClr val="000000"/>
          </p15:clr>
        </p15:guide>
        <p15:guide id="9" pos="6318">
          <p15:clr>
            <a:srgbClr val="000000"/>
          </p15:clr>
        </p15:guide>
        <p15:guide id="10" pos="414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28"/>
  </p:normalViewPr>
  <p:slideViewPr>
    <p:cSldViewPr snapToGrid="0">
      <p:cViewPr varScale="1">
        <p:scale>
          <a:sx n="54" d="100"/>
          <a:sy n="54" d="100"/>
        </p:scale>
        <p:origin x="3248" y="232"/>
      </p:cViewPr>
      <p:guideLst>
        <p:guide orient="horz" pos="9312"/>
        <p:guide orient="horz" pos="232"/>
        <p:guide orient="horz" pos="8880"/>
        <p:guide pos="3366"/>
        <p:guide pos="240"/>
        <p:guide pos="6506"/>
        <p:guide pos="3186"/>
        <p:guide pos="3552"/>
        <p:guide pos="6318"/>
        <p:guide pos="41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97325" y="0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192337" y="773112"/>
            <a:ext cx="2700337" cy="381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848225"/>
            <a:ext cx="5210175" cy="4643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97325" y="9698037"/>
            <a:ext cx="3086100" cy="51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5" tIns="30675" rIns="61375" bIns="306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44b4dfb29_1_63:notes"/>
          <p:cNvSpPr txBox="1"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25" tIns="43200" rIns="86425" bIns="432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74" name="Google Shape;174;g3b44b4dfb29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92338" y="768350"/>
            <a:ext cx="27146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>
            <a:spLocks noGrp="1"/>
          </p:cNvSpPr>
          <p:nvPr>
            <p:ph type="ftr" idx="11"/>
          </p:nvPr>
        </p:nvSpPr>
        <p:spPr>
          <a:xfrm>
            <a:off x="3638806" y="14058430"/>
            <a:ext cx="3423173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dt" idx="10"/>
          </p:nvPr>
        </p:nvSpPr>
        <p:spPr>
          <a:xfrm>
            <a:off x="534590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ldNum" idx="12"/>
          </p:nvPr>
        </p:nvSpPr>
        <p:spPr>
          <a:xfrm>
            <a:off x="7704385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534590" y="603722"/>
            <a:ext cx="9631605" cy="24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5"/>
          <p:cNvSpPr txBox="1">
            <a:spLocks noGrp="1"/>
          </p:cNvSpPr>
          <p:nvPr>
            <p:ph type="ftr" idx="11"/>
          </p:nvPr>
        </p:nvSpPr>
        <p:spPr>
          <a:xfrm>
            <a:off x="3638806" y="14058430"/>
            <a:ext cx="3423173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dt" idx="10"/>
          </p:nvPr>
        </p:nvSpPr>
        <p:spPr>
          <a:xfrm>
            <a:off x="534590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7704385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>
            <a:spLocks noGrp="1"/>
          </p:cNvSpPr>
          <p:nvPr>
            <p:ph type="title"/>
          </p:nvPr>
        </p:nvSpPr>
        <p:spPr>
          <a:xfrm>
            <a:off x="534590" y="603722"/>
            <a:ext cx="9631605" cy="24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body" idx="1"/>
          </p:nvPr>
        </p:nvSpPr>
        <p:spPr>
          <a:xfrm>
            <a:off x="535039" y="3477082"/>
            <a:ext cx="4654840" cy="9977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body" idx="2"/>
          </p:nvPr>
        </p:nvSpPr>
        <p:spPr>
          <a:xfrm>
            <a:off x="5510903" y="3477082"/>
            <a:ext cx="4654840" cy="9977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ftr" idx="11"/>
          </p:nvPr>
        </p:nvSpPr>
        <p:spPr>
          <a:xfrm>
            <a:off x="3638806" y="14058430"/>
            <a:ext cx="3423173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dt" idx="10"/>
          </p:nvPr>
        </p:nvSpPr>
        <p:spPr>
          <a:xfrm>
            <a:off x="534590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7704385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534590" y="603722"/>
            <a:ext cx="9631605" cy="24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xfrm>
            <a:off x="534590" y="3476453"/>
            <a:ext cx="9631605" cy="9978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ftr" idx="11"/>
          </p:nvPr>
        </p:nvSpPr>
        <p:spPr>
          <a:xfrm>
            <a:off x="3638806" y="14058430"/>
            <a:ext cx="3423173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dt" idx="10"/>
          </p:nvPr>
        </p:nvSpPr>
        <p:spPr>
          <a:xfrm>
            <a:off x="534590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sldNum" idx="12"/>
          </p:nvPr>
        </p:nvSpPr>
        <p:spPr>
          <a:xfrm>
            <a:off x="7704385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>
            <a:spLocks noGrp="1"/>
          </p:cNvSpPr>
          <p:nvPr>
            <p:ph type="ctrTitle"/>
          </p:nvPr>
        </p:nvSpPr>
        <p:spPr>
          <a:xfrm>
            <a:off x="802558" y="4686502"/>
            <a:ext cx="9095666" cy="31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subTitle" idx="1"/>
          </p:nvPr>
        </p:nvSpPr>
        <p:spPr>
          <a:xfrm>
            <a:off x="1605117" y="8465940"/>
            <a:ext cx="7490548" cy="377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ftr" idx="11"/>
          </p:nvPr>
        </p:nvSpPr>
        <p:spPr>
          <a:xfrm>
            <a:off x="3638806" y="14058430"/>
            <a:ext cx="3423173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dt" idx="10"/>
          </p:nvPr>
        </p:nvSpPr>
        <p:spPr>
          <a:xfrm>
            <a:off x="534590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sldNum" idx="12"/>
          </p:nvPr>
        </p:nvSpPr>
        <p:spPr>
          <a:xfrm>
            <a:off x="7704385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13" Type="http://schemas.openxmlformats.org/officeDocument/2006/relationships/image" Target="../media/image7.jpg"/><Relationship Id="rId18" Type="http://schemas.openxmlformats.org/officeDocument/2006/relationships/image" Target="../media/image1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jpg"/><Relationship Id="rId17" Type="http://schemas.openxmlformats.org/officeDocument/2006/relationships/image" Target="../media/image11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jpg"/><Relationship Id="rId10" Type="http://schemas.openxmlformats.org/officeDocument/2006/relationships/image" Target="../media/image4.jpg"/><Relationship Id="rId19" Type="http://schemas.openxmlformats.org/officeDocument/2006/relationships/image" Target="../media/image13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Relationship Id="rId14" Type="http://schemas.openxmlformats.org/officeDocument/2006/relationships/image" Target="../media/image8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/>
        </p:nvSpPr>
        <p:spPr>
          <a:xfrm>
            <a:off x="988318" y="2053554"/>
            <a:ext cx="1381398" cy="51170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70438" y="4717564"/>
            <a:ext cx="2172052" cy="51170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770438" y="8979530"/>
            <a:ext cx="2942491" cy="51394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006287" y="9946833"/>
            <a:ext cx="1758755" cy="94710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2785259" y="11724336"/>
            <a:ext cx="1480230" cy="491506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770438" y="12532292"/>
            <a:ext cx="4463152" cy="51394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1006287" y="13479395"/>
            <a:ext cx="1383645" cy="749603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2666211" y="13499593"/>
            <a:ext cx="1244382" cy="592501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96495" y="13676896"/>
            <a:ext cx="532343" cy="143860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3989209" y="14150447"/>
            <a:ext cx="1087149" cy="749603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451470" y="4697364"/>
            <a:ext cx="3753360" cy="51394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471686" y="7994273"/>
            <a:ext cx="4503583" cy="473551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471686" y="12256239"/>
            <a:ext cx="2686427" cy="473551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285264" y="8977"/>
            <a:ext cx="4768632" cy="0"/>
          </a:xfrm>
          <a:custGeom>
            <a:avLst/>
            <a:gdLst/>
            <a:ahLst/>
            <a:cxnLst/>
            <a:rect l="l" t="t" r="r" b="b"/>
            <a:pathLst>
              <a:path w="3369310" h="120000" extrusionOk="0">
                <a:moveTo>
                  <a:pt x="0" y="0"/>
                </a:moveTo>
                <a:lnTo>
                  <a:pt x="3369306" y="0"/>
                </a:lnTo>
              </a:path>
            </a:pathLst>
          </a:custGeom>
          <a:noFill/>
          <a:ln w="13900" cap="flat" cmpd="sng">
            <a:solidFill>
              <a:srgbClr val="87A0CC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330187" y="40398"/>
            <a:ext cx="0" cy="1811167"/>
          </a:xfrm>
          <a:custGeom>
            <a:avLst/>
            <a:gdLst/>
            <a:ahLst/>
            <a:cxnLst/>
            <a:rect l="l" t="t" r="r" b="b"/>
            <a:pathLst>
              <a:path w="120000" h="1282065" extrusionOk="0">
                <a:moveTo>
                  <a:pt x="0" y="1281647"/>
                </a:moveTo>
                <a:lnTo>
                  <a:pt x="0" y="0"/>
                </a:lnTo>
              </a:path>
            </a:pathLst>
          </a:custGeom>
          <a:noFill/>
          <a:ln w="34800" cap="flat" cmpd="sng">
            <a:solidFill>
              <a:srgbClr val="A3B8D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285264" y="1831366"/>
            <a:ext cx="1242135" cy="0"/>
          </a:xfrm>
          <a:custGeom>
            <a:avLst/>
            <a:gdLst/>
            <a:ahLst/>
            <a:cxnLst/>
            <a:rect l="l" t="t" r="r" b="b"/>
            <a:pathLst>
              <a:path w="877569" h="120000" extrusionOk="0">
                <a:moveTo>
                  <a:pt x="0" y="0"/>
                </a:moveTo>
                <a:lnTo>
                  <a:pt x="877133" y="0"/>
                </a:lnTo>
              </a:path>
            </a:pathLst>
          </a:custGeom>
          <a:noFill/>
          <a:ln w="9525" cap="flat" cmpd="sng">
            <a:solidFill>
              <a:srgbClr val="B8C8E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3742130" y="1806678"/>
            <a:ext cx="1972143" cy="0"/>
          </a:xfrm>
          <a:custGeom>
            <a:avLst/>
            <a:gdLst/>
            <a:ahLst/>
            <a:cxnLst/>
            <a:rect l="l" t="t" r="r" b="b"/>
            <a:pathLst>
              <a:path w="1392554" h="120000" extrusionOk="0">
                <a:moveTo>
                  <a:pt x="0" y="0"/>
                </a:moveTo>
                <a:lnTo>
                  <a:pt x="1392275" y="0"/>
                </a:lnTo>
              </a:path>
            </a:pathLst>
          </a:custGeom>
          <a:noFill/>
          <a:ln w="34800" cap="flat" cmpd="sng">
            <a:solidFill>
              <a:srgbClr val="AFBFE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2345008" y="2091708"/>
            <a:ext cx="3998194" cy="0"/>
          </a:xfrm>
          <a:custGeom>
            <a:avLst/>
            <a:gdLst/>
            <a:ahLst/>
            <a:cxnLst/>
            <a:rect l="l" t="t" r="r" b="b"/>
            <a:pathLst>
              <a:path w="2826385" h="120000" extrusionOk="0">
                <a:moveTo>
                  <a:pt x="0" y="0"/>
                </a:moveTo>
                <a:lnTo>
                  <a:pt x="2826320" y="0"/>
                </a:lnTo>
              </a:path>
            </a:pathLst>
          </a:custGeom>
          <a:noFill/>
          <a:ln w="20875" cap="flat" cmpd="sng">
            <a:solidFill>
              <a:srgbClr val="90A8D8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5199898" y="15066130"/>
            <a:ext cx="5202145" cy="0"/>
          </a:xfrm>
          <a:custGeom>
            <a:avLst/>
            <a:gdLst/>
            <a:ahLst/>
            <a:cxnLst/>
            <a:rect l="l" t="t" r="r" b="b"/>
            <a:pathLst>
              <a:path w="3676015" h="120000" extrusionOk="0">
                <a:moveTo>
                  <a:pt x="0" y="0"/>
                </a:moveTo>
                <a:lnTo>
                  <a:pt x="3675607" y="0"/>
                </a:lnTo>
              </a:path>
            </a:pathLst>
          </a:custGeom>
          <a:noFill/>
          <a:ln w="27825" cap="flat" cmpd="sng">
            <a:solidFill>
              <a:srgbClr val="A0B3DB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3131170" y="4751228"/>
            <a:ext cx="2010327" cy="0"/>
          </a:xfrm>
          <a:custGeom>
            <a:avLst/>
            <a:gdLst/>
            <a:ahLst/>
            <a:cxnLst/>
            <a:rect l="l" t="t" r="r" b="b"/>
            <a:pathLst>
              <a:path w="1420495" h="120000" extrusionOk="0">
                <a:moveTo>
                  <a:pt x="0" y="0"/>
                </a:moveTo>
                <a:lnTo>
                  <a:pt x="1420121" y="0"/>
                </a:lnTo>
              </a:path>
            </a:pathLst>
          </a:custGeom>
          <a:noFill/>
          <a:ln w="20875" cap="flat" cmpd="sng">
            <a:solidFill>
              <a:srgbClr val="93ACD8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683729" y="9010950"/>
            <a:ext cx="1399367" cy="0"/>
          </a:xfrm>
          <a:custGeom>
            <a:avLst/>
            <a:gdLst/>
            <a:ahLst/>
            <a:cxnLst/>
            <a:rect l="l" t="t" r="r" b="b"/>
            <a:pathLst>
              <a:path w="988695" h="120000" extrusionOk="0">
                <a:moveTo>
                  <a:pt x="0" y="0"/>
                </a:moveTo>
                <a:lnTo>
                  <a:pt x="988514" y="0"/>
                </a:lnTo>
              </a:path>
            </a:pathLst>
          </a:custGeom>
          <a:noFill/>
          <a:ln w="20875" cap="flat" cmpd="sng">
            <a:solidFill>
              <a:srgbClr val="97AFD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4950573" y="9935611"/>
            <a:ext cx="0" cy="848354"/>
          </a:xfrm>
          <a:custGeom>
            <a:avLst/>
            <a:gdLst/>
            <a:ahLst/>
            <a:cxnLst/>
            <a:rect l="l" t="t" r="r" b="b"/>
            <a:pathLst>
              <a:path w="120000" h="599440" extrusionOk="0">
                <a:moveTo>
                  <a:pt x="0" y="59903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A8ACC3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4950573" y="11362999"/>
            <a:ext cx="0" cy="778779"/>
          </a:xfrm>
          <a:custGeom>
            <a:avLst/>
            <a:gdLst/>
            <a:ahLst/>
            <a:cxnLst/>
            <a:rect l="l" t="t" r="r" b="b"/>
            <a:pathLst>
              <a:path w="120000" h="550545" extrusionOk="0">
                <a:moveTo>
                  <a:pt x="0" y="55027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97A3B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4236289" y="12029564"/>
            <a:ext cx="599728" cy="0"/>
          </a:xfrm>
          <a:custGeom>
            <a:avLst/>
            <a:gdLst/>
            <a:ahLst/>
            <a:cxnLst/>
            <a:rect l="l" t="t" r="r" b="b"/>
            <a:pathLst>
              <a:path w="424814" h="120000" extrusionOk="0">
                <a:moveTo>
                  <a:pt x="0" y="0"/>
                </a:moveTo>
                <a:lnTo>
                  <a:pt x="424643" y="0"/>
                </a:lnTo>
              </a:path>
            </a:pathLst>
          </a:custGeom>
          <a:noFill/>
          <a:ln w="34800" cap="flat" cmpd="sng">
            <a:solidFill>
              <a:srgbClr val="97AFB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236289" y="12141780"/>
            <a:ext cx="718776" cy="0"/>
          </a:xfrm>
          <a:custGeom>
            <a:avLst/>
            <a:gdLst/>
            <a:ahLst/>
            <a:cxnLst/>
            <a:rect l="l" t="t" r="r" b="b"/>
            <a:pathLst>
              <a:path w="508635" h="120000" extrusionOk="0">
                <a:moveTo>
                  <a:pt x="0" y="0"/>
                </a:moveTo>
                <a:lnTo>
                  <a:pt x="508180" y="0"/>
                </a:lnTo>
              </a:path>
            </a:pathLst>
          </a:custGeom>
          <a:noFill/>
          <a:ln w="13900" cap="flat" cmpd="sng">
            <a:solidFill>
              <a:srgbClr val="909CB8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350404" y="12447007"/>
            <a:ext cx="0" cy="2659520"/>
          </a:xfrm>
          <a:custGeom>
            <a:avLst/>
            <a:gdLst/>
            <a:ahLst/>
            <a:cxnLst/>
            <a:rect l="l" t="t" r="r" b="b"/>
            <a:pathLst>
              <a:path w="120000" h="1880870" extrusionOk="0">
                <a:moveTo>
                  <a:pt x="0" y="1880678"/>
                </a:moveTo>
                <a:lnTo>
                  <a:pt x="0" y="0"/>
                </a:lnTo>
              </a:path>
            </a:pathLst>
          </a:custGeom>
          <a:noFill/>
          <a:ln w="34800" cap="flat" cmpd="sng">
            <a:solidFill>
              <a:srgbClr val="ACBFE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10327919" y="8977"/>
            <a:ext cx="38184" cy="6569128"/>
          </a:xfrm>
          <a:custGeom>
            <a:avLst/>
            <a:gdLst/>
            <a:ahLst/>
            <a:cxnLst/>
            <a:rect l="l" t="t" r="r" b="b"/>
            <a:pathLst>
              <a:path w="27940" h="4646295" extrusionOk="0">
                <a:moveTo>
                  <a:pt x="0" y="0"/>
                </a:moveTo>
                <a:lnTo>
                  <a:pt x="27845" y="0"/>
                </a:lnTo>
                <a:lnTo>
                  <a:pt x="27845" y="4645971"/>
                </a:lnTo>
                <a:lnTo>
                  <a:pt x="0" y="4645971"/>
                </a:lnTo>
                <a:lnTo>
                  <a:pt x="0" y="0"/>
                </a:lnTo>
                <a:close/>
              </a:path>
            </a:pathLst>
          </a:custGeom>
          <a:solidFill>
            <a:srgbClr val="BFCC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10361611" y="8977"/>
            <a:ext cx="20215" cy="6569128"/>
          </a:xfrm>
          <a:custGeom>
            <a:avLst/>
            <a:gdLst/>
            <a:ahLst/>
            <a:cxnLst/>
            <a:rect l="l" t="t" r="r" b="b"/>
            <a:pathLst>
              <a:path w="13970" h="4646295" extrusionOk="0">
                <a:moveTo>
                  <a:pt x="0" y="0"/>
                </a:moveTo>
                <a:lnTo>
                  <a:pt x="13922" y="0"/>
                </a:lnTo>
                <a:lnTo>
                  <a:pt x="13922" y="4645971"/>
                </a:lnTo>
                <a:lnTo>
                  <a:pt x="0" y="4645971"/>
                </a:lnTo>
                <a:lnTo>
                  <a:pt x="0" y="0"/>
                </a:lnTo>
                <a:close/>
              </a:path>
            </a:pathLst>
          </a:custGeom>
          <a:solidFill>
            <a:srgbClr val="C8D4E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10366104" y="6618504"/>
            <a:ext cx="0" cy="8467825"/>
          </a:xfrm>
          <a:custGeom>
            <a:avLst/>
            <a:gdLst/>
            <a:ahLst/>
            <a:cxnLst/>
            <a:rect l="l" t="t" r="r" b="b"/>
            <a:pathLst>
              <a:path w="120000" h="5990590" extrusionOk="0">
                <a:moveTo>
                  <a:pt x="0" y="5990308"/>
                </a:moveTo>
                <a:lnTo>
                  <a:pt x="0" y="0"/>
                </a:lnTo>
              </a:path>
            </a:pathLst>
          </a:custGeom>
          <a:noFill/>
          <a:ln w="34800" cap="flat" cmpd="sng">
            <a:solidFill>
              <a:srgbClr val="B8C3E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/>
          </p:nvPr>
        </p:nvSpPr>
        <p:spPr>
          <a:xfrm>
            <a:off x="534590" y="603722"/>
            <a:ext cx="9631605" cy="24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body" idx="1"/>
          </p:nvPr>
        </p:nvSpPr>
        <p:spPr>
          <a:xfrm>
            <a:off x="534590" y="3476453"/>
            <a:ext cx="9631605" cy="9978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ftr" idx="11"/>
          </p:nvPr>
        </p:nvSpPr>
        <p:spPr>
          <a:xfrm>
            <a:off x="3638806" y="14058430"/>
            <a:ext cx="3423173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dt" idx="10"/>
          </p:nvPr>
        </p:nvSpPr>
        <p:spPr>
          <a:xfrm>
            <a:off x="534590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ldNum" idx="12"/>
          </p:nvPr>
        </p:nvSpPr>
        <p:spPr>
          <a:xfrm>
            <a:off x="7704385" y="14058430"/>
            <a:ext cx="2461809" cy="75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500"/>
              <a:buFont typeface="Calibri"/>
              <a:buNone/>
              <a:defRPr sz="25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4EB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377775" y="-15300"/>
            <a:ext cx="9846300" cy="1919400"/>
          </a:xfrm>
          <a:prstGeom prst="roundRect">
            <a:avLst>
              <a:gd name="adj" fmla="val 16667"/>
            </a:avLst>
          </a:prstGeom>
          <a:solidFill>
            <a:srgbClr val="BFCCE8"/>
          </a:solidFill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271336" y="579035"/>
            <a:ext cx="805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19100" marR="0" lvl="0" indent="-40640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2F364F"/>
              </a:buClr>
              <a:buSzPts val="3400"/>
              <a:buFont typeface="Arial"/>
              <a:buNone/>
            </a:pPr>
            <a:endParaRPr sz="2000"/>
          </a:p>
        </p:txBody>
      </p:sp>
      <p:sp>
        <p:nvSpPr>
          <p:cNvPr id="178" name="Google Shape;178;p20"/>
          <p:cNvSpPr txBox="1"/>
          <p:nvPr/>
        </p:nvSpPr>
        <p:spPr>
          <a:xfrm>
            <a:off x="1006287" y="2747050"/>
            <a:ext cx="87645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25400" algn="just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F364F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2F364F"/>
                </a:solidFill>
              </a:rPr>
              <a:t>Face biometric systems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are increasingly </a:t>
            </a:r>
            <a:r>
              <a:rPr lang="en-US" sz="1600" b="1" i="0" u="none">
                <a:solidFill>
                  <a:srgbClr val="2F364F"/>
                </a:solidFill>
              </a:rPr>
              <a:t>vulnerable to attacks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using printed photos,replayed videos,or </a:t>
            </a:r>
            <a:r>
              <a:rPr lang="en-US" sz="1600" b="1" i="0" u="none">
                <a:solidFill>
                  <a:srgbClr val="2F364F"/>
                </a:solidFill>
              </a:rPr>
              <a:t>3</a:t>
            </a:r>
            <a:r>
              <a:rPr lang="en-US" sz="1600" b="1">
                <a:solidFill>
                  <a:srgbClr val="2F364F"/>
                </a:solidFill>
              </a:rPr>
              <a:t>D</a:t>
            </a:r>
            <a:r>
              <a:rPr lang="en-US" sz="1600" b="1" i="0" u="none">
                <a:solidFill>
                  <a:srgbClr val="2F364F"/>
                </a:solidFill>
              </a:rPr>
              <a:t> masks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(Presentation Attacks - PAs). This research studies </a:t>
            </a:r>
            <a:r>
              <a:rPr lang="en-US" sz="1600" b="1" i="0" u="none">
                <a:solidFill>
                  <a:srgbClr val="2F364F"/>
                </a:solidFill>
              </a:rPr>
              <a:t>Face Anti-Spoofing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(FAS) 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methods using deep vision </a:t>
            </a:r>
            <a:r>
              <a:rPr lang="en-US" sz="1600" b="1" i="0" u="none">
                <a:solidFill>
                  <a:srgbClr val="2F364F"/>
                </a:solidFill>
              </a:rPr>
              <a:t>models to detect such threats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. Key components include fine-grained texture analysis and </a:t>
            </a:r>
            <a:r>
              <a:rPr lang="en-US" sz="1600" b="1" i="0" u="none">
                <a:solidFill>
                  <a:srgbClr val="2F364F"/>
                </a:solidFill>
              </a:rPr>
              <a:t>depth map estimation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from single images. Experiments on OULU-NPU </a:t>
            </a:r>
            <a:r>
              <a:rPr lang="en-US" sz="1300" b="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SiW datasets aim to enhance security for eKYC and access control systems.</a:t>
            </a:r>
            <a:endParaRPr sz="2000">
              <a:solidFill>
                <a:srgbClr val="2F364F"/>
              </a:solidFill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73125" y="5337000"/>
            <a:ext cx="4384200" cy="3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8900" marR="0" lvl="0" indent="1270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F364F"/>
              </a:buClr>
              <a:buSzPts val="1600"/>
              <a:buFont typeface="Arial"/>
              <a:buNone/>
            </a:pPr>
            <a:r>
              <a:rPr lang="en-US" sz="1600" b="1" i="0" u="none">
                <a:solidFill>
                  <a:srgbClr val="2F364F"/>
                </a:solidFill>
              </a:rPr>
              <a:t>Face  recognition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 is widely  used  in modern security systems. but </a:t>
            </a:r>
            <a:r>
              <a:rPr lang="en-US" sz="1600">
                <a:solidFill>
                  <a:srgbClr val="2F364F"/>
                </a:solidFill>
              </a:rPr>
              <a:t>is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vulnerable to simple </a:t>
            </a:r>
            <a:r>
              <a:rPr lang="en-US" sz="1600" b="1" i="0" u="none">
                <a:solidFill>
                  <a:srgbClr val="2F364F"/>
                </a:solidFill>
              </a:rPr>
              <a:t>presentation attacks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. Comprehen</a:t>
            </a:r>
            <a:r>
              <a:rPr lang="en-US" sz="1600">
                <a:solidFill>
                  <a:srgbClr val="2F364F"/>
                </a:solidFill>
              </a:rPr>
              <a:t>s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ive studies </a:t>
            </a:r>
            <a:r>
              <a:rPr lang="en-US" sz="1600" b="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emphasize the tieed for an ad­ ditionallayer of liveness detection.</a:t>
            </a:r>
            <a:endParaRPr sz="1600" b="0" i="0" u="none">
              <a:solidFill>
                <a:srgbClr val="2F364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900" marR="0" lvl="0" indent="12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05464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Recent CVPR trends include using deep</a:t>
            </a:r>
            <a:endParaRPr sz="1600" b="0" i="0" u="none">
              <a:solidFill>
                <a:srgbClr val="2F364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900" marR="0" lvl="0" indent="1270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46775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learning to extract </a:t>
            </a:r>
            <a:r>
              <a:rPr lang="en-US" sz="1600" b="1" i="0" u="none">
                <a:solidFill>
                  <a:srgbClr val="2F364F"/>
                </a:solidFill>
              </a:rPr>
              <a:t>fine-grained textures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and estimate depth maps from single  </a:t>
            </a:r>
            <a:r>
              <a:rPr lang="en-US" sz="11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RGB 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images </a:t>
            </a:r>
            <a:r>
              <a:rPr lang="en-US" sz="1400" b="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[1, 2]. 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This study systematically explores state-of-the-art  FAS techniques based on deep vision models.</a:t>
            </a:r>
            <a:endParaRPr sz="2000">
              <a:solidFill>
                <a:srgbClr val="2F364F"/>
              </a:solidFill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997302" y="9520412"/>
            <a:ext cx="102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16D"/>
              </a:buClr>
              <a:buSzPts val="2300"/>
              <a:buFont typeface="Times New Roman"/>
              <a:buNone/>
            </a:pPr>
            <a:r>
              <a:rPr lang="en-US" sz="2300">
                <a:solidFill>
                  <a:srgbClr val="2A41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/>
          </a:p>
        </p:txBody>
      </p:sp>
      <p:sp>
        <p:nvSpPr>
          <p:cNvPr id="181" name="Google Shape;181;p20"/>
          <p:cNvSpPr txBox="1"/>
          <p:nvPr/>
        </p:nvSpPr>
        <p:spPr>
          <a:xfrm>
            <a:off x="947886" y="13084395"/>
            <a:ext cx="1210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5E8E"/>
              </a:buClr>
              <a:buSzPts val="2000"/>
              <a:buFont typeface="Times New Roman"/>
              <a:buNone/>
            </a:pPr>
            <a:r>
              <a:rPr lang="en-US" sz="14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r>
              <a:rPr lang="en-US" sz="1400" b="0" i="0" u="none">
                <a:solidFill>
                  <a:srgbClr val="2A416D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14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400" b="0" i="0" u="none">
                <a:solidFill>
                  <a:srgbClr val="2A416D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4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400" b="0" i="0" u="none">
                <a:solidFill>
                  <a:srgbClr val="505464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2000"/>
          </a:p>
        </p:txBody>
      </p:sp>
      <p:sp>
        <p:nvSpPr>
          <p:cNvPr id="190" name="Google Shape;190;p20"/>
          <p:cNvSpPr/>
          <p:nvPr/>
        </p:nvSpPr>
        <p:spPr>
          <a:xfrm>
            <a:off x="4975280" y="14641954"/>
            <a:ext cx="94339" cy="448864"/>
          </a:xfrm>
          <a:custGeom>
            <a:avLst/>
            <a:gdLst/>
            <a:ahLst/>
            <a:cxnLst/>
            <a:rect l="l" t="t" r="r" b="b"/>
            <a:pathLst>
              <a:path w="67310" h="316865" extrusionOk="0">
                <a:moveTo>
                  <a:pt x="0" y="0"/>
                </a:moveTo>
                <a:lnTo>
                  <a:pt x="67284" y="0"/>
                </a:lnTo>
                <a:lnTo>
                  <a:pt x="67284" y="316287"/>
                </a:lnTo>
                <a:lnTo>
                  <a:pt x="0" y="316287"/>
                </a:lnTo>
                <a:lnTo>
                  <a:pt x="0" y="0"/>
                </a:lnTo>
                <a:close/>
              </a:path>
            </a:pathLst>
          </a:custGeom>
          <a:solidFill>
            <a:srgbClr val="DFE2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4281" y="5302404"/>
            <a:ext cx="37398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91C1"/>
              </a:buClr>
              <a:buSzPts val="2300"/>
              <a:buFont typeface="Arial"/>
              <a:buNone/>
            </a:pPr>
            <a:r>
              <a:rPr lang="en-US" sz="23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 b="1" i="0" u="none">
                <a:solidFill>
                  <a:srgbClr val="2F364F"/>
                </a:solidFill>
              </a:rPr>
              <a:t>Input</a:t>
            </a:r>
            <a:endParaRPr sz="1600" b="1" i="0" u="none">
              <a:solidFill>
                <a:srgbClr val="2F364F"/>
              </a:solidFill>
            </a:endParaRPr>
          </a:p>
          <a:p>
            <a:pPr marL="457200" marR="0" lvl="0" indent="-317500" algn="l" rtl="0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  <a:buClr>
                <a:srgbClr val="2F364F"/>
              </a:buClr>
              <a:buSzPts val="1400"/>
              <a:buChar char="●"/>
            </a:pP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Study deeplearning architectures specialized for </a:t>
            </a:r>
            <a:r>
              <a:rPr lang="en-US" sz="1700" b="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FAS.</a:t>
            </a:r>
            <a:endParaRPr sz="2000">
              <a:solidFill>
                <a:srgbClr val="2F364F"/>
              </a:solidFill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714273" y="6326742"/>
            <a:ext cx="39960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93700" marR="0" lvl="0" indent="-3810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6E91C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US" sz="1600" b="1" i="0" u="none">
                <a:solidFill>
                  <a:srgbClr val="2F364F"/>
                </a:solidFill>
              </a:rPr>
              <a:t>Analyze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benchmark datasets like OULU­ NPU and SiW.</a:t>
            </a:r>
            <a:endParaRPr sz="2000">
              <a:solidFill>
                <a:srgbClr val="2F364F"/>
              </a:solidFill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05288" y="7038192"/>
            <a:ext cx="41802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93700" marR="0" lvl="0" indent="-38100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6E91C1"/>
              </a:buClr>
              <a:buSzPts val="2300"/>
              <a:buFont typeface="Arial"/>
              <a:buNone/>
            </a:pPr>
            <a:r>
              <a:rPr lang="en-US" sz="23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300">
                <a:solidFill>
                  <a:srgbClr val="2F364F"/>
                </a:solidFill>
              </a:rPr>
              <a:t>	</a:t>
            </a:r>
            <a:r>
              <a:rPr lang="en-US" sz="1600" b="1" i="0" u="none">
                <a:solidFill>
                  <a:srgbClr val="2F364F"/>
                </a:solidFill>
              </a:rPr>
              <a:t>Propose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a robust pipeline for effective face anti-spoofing.</a:t>
            </a:r>
            <a:endParaRPr sz="2000">
              <a:solidFill>
                <a:srgbClr val="2F364F"/>
              </a:solidFill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655872" y="8566575"/>
            <a:ext cx="4083600" cy="16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5E8E"/>
              </a:buClr>
              <a:buSzPts val="1800"/>
              <a:buFont typeface="Arial"/>
              <a:buNone/>
            </a:pPr>
            <a:r>
              <a:rPr lang="en-US" sz="1600" b="1" i="0" u="none" dirty="0">
                <a:solidFill>
                  <a:srgbClr val="2F364F"/>
                </a:solidFill>
              </a:rPr>
              <a:t>Datasets</a:t>
            </a:r>
            <a:r>
              <a:rPr lang="en-US" sz="1600" b="0" i="0" u="none" dirty="0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: OULU-NPU </a:t>
            </a:r>
            <a:r>
              <a:rPr lang="en-US" sz="1000" b="0" i="0" u="none" dirty="0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AND  </a:t>
            </a:r>
            <a:r>
              <a:rPr lang="en-US" sz="1300" b="0" i="0" u="none" dirty="0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SIW</a:t>
            </a:r>
            <a:endParaRPr sz="1300" b="0" i="0" u="none" dirty="0">
              <a:solidFill>
                <a:srgbClr val="2F364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-101600" algn="l" rtl="0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  <a:buClr>
                <a:srgbClr val="2F364F"/>
              </a:buClr>
              <a:buSzPts val="1600"/>
              <a:buFont typeface="Arial"/>
              <a:buChar char="•"/>
            </a:pPr>
            <a:r>
              <a:rPr lang="en-US" sz="1600" b="0" i="0" u="none" dirty="0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Public benchmark </a:t>
            </a:r>
            <a:r>
              <a:rPr lang="en-US" sz="1600" b="0" i="0" u="none" dirty="0" err="1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datasets..</a:t>
            </a:r>
            <a:r>
              <a:rPr lang="en-US" sz="1300" b="0" i="0" u="none" dirty="0" err="1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-US" sz="1300" b="0" i="0" u="none" dirty="0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dirty="0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diverse attack scenarios.</a:t>
            </a:r>
            <a:endParaRPr sz="1600" b="0" i="0" u="none" dirty="0">
              <a:solidFill>
                <a:srgbClr val="2F364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2A416D"/>
              </a:buClr>
              <a:buSzPts val="1600"/>
              <a:buFont typeface="Arial"/>
              <a:buNone/>
            </a:pPr>
            <a:r>
              <a:rPr lang="en-US" sz="1600" b="1" i="0" u="none" dirty="0" err="1">
                <a:solidFill>
                  <a:srgbClr val="2F364F"/>
                </a:solidFill>
              </a:rPr>
              <a:t>Approach</a:t>
            </a:r>
            <a:r>
              <a:rPr lang="en-US" sz="1600" b="0" i="0" u="none" dirty="0" err="1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:Central</a:t>
            </a:r>
            <a:r>
              <a:rPr lang="en-US" sz="1600" b="0" i="0" u="none" dirty="0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Difference Convolution (CDC) focuses on intensity differences between</a:t>
            </a:r>
            <a:endParaRPr sz="2000" dirty="0">
              <a:solidFill>
                <a:srgbClr val="2F364F"/>
              </a:solidFill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663822" y="10258420"/>
            <a:ext cx="4067700" cy="16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5E8E"/>
              </a:buClr>
              <a:buSzPts val="1700"/>
              <a:buFont typeface="Times New Roman"/>
              <a:buNone/>
            </a:pPr>
            <a:r>
              <a:rPr lang="en-US" sz="1600" b="1" i="0" u="none">
                <a:solidFill>
                  <a:srgbClr val="2F364F"/>
                </a:solidFill>
              </a:rPr>
              <a:t>Neural Architecture Search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(NAS)</a:t>
            </a:r>
            <a:endParaRPr sz="1300" b="0" i="0" u="none">
              <a:solidFill>
                <a:srgbClr val="2F36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775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for automatic network optimization.</a:t>
            </a:r>
            <a:endParaRPr sz="1600" b="0" i="0" u="none">
              <a:solidFill>
                <a:srgbClr val="2F364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93750"/>
              </a:lnSpc>
              <a:spcBef>
                <a:spcPts val="600"/>
              </a:spcBef>
              <a:spcAft>
                <a:spcPts val="0"/>
              </a:spcAft>
              <a:buClr>
                <a:srgbClr val="425E8E"/>
              </a:buClr>
              <a:buSzPts val="2300"/>
              <a:buFont typeface="Times New Roman"/>
              <a:buNone/>
            </a:pPr>
            <a:r>
              <a:rPr lang="en-US" sz="1600" b="1" i="0" u="none">
                <a:solidFill>
                  <a:srgbClr val="2F364F"/>
                </a:solidFill>
              </a:rPr>
              <a:t>Depth-map-based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 analysis for </a:t>
            </a:r>
            <a:r>
              <a:rPr lang="en-US" sz="1600" b="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</a:t>
            </a: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cues and feature: analka1s.</a:t>
            </a:r>
            <a:endParaRPr sz="1600" b="0" i="0" u="none">
              <a:solidFill>
                <a:srgbClr val="2F364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05464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Average Classification Error Rate </a:t>
            </a:r>
            <a:r>
              <a:rPr lang="en-US" sz="1300" b="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(ACER)</a:t>
            </a:r>
            <a:endParaRPr sz="1300" b="0" i="0" u="none">
              <a:solidFill>
                <a:srgbClr val="2F36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4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05464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rgbClr val="2F364F"/>
                </a:solidFill>
                <a:latin typeface="Arial"/>
                <a:ea typeface="Arial"/>
                <a:cs typeface="Arial"/>
                <a:sym typeface="Arial"/>
              </a:rPr>
              <a:t>key evaluation metric</a:t>
            </a:r>
            <a:endParaRPr sz="2000">
              <a:solidFill>
                <a:srgbClr val="2F364F"/>
              </a:solidFill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743473" y="12839763"/>
            <a:ext cx="38298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364F"/>
              </a:buClr>
              <a:buSzPts val="1600"/>
              <a:buChar char="•"/>
            </a:pPr>
            <a:r>
              <a:rPr lang="en-US" sz="1600" i="0" u="none">
                <a:solidFill>
                  <a:srgbClr val="2F364F"/>
                </a:solidFill>
              </a:rPr>
              <a:t>Comprehensive understand g of FAS</a:t>
            </a:r>
            <a:endParaRPr sz="1600" i="0" u="none">
              <a:solidFill>
                <a:srgbClr val="2F364F"/>
              </a:solidFill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775"/>
              </a:buClr>
              <a:buSzPts val="1600"/>
              <a:buFont typeface="Times New Roman"/>
              <a:buNone/>
            </a:pPr>
            <a:r>
              <a:rPr lang="en-US" sz="1600" i="0" u="none">
                <a:solidFill>
                  <a:srgbClr val="2F36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methods.</a:t>
            </a:r>
            <a:endParaRPr sz="1600" i="0" u="none">
              <a:solidFill>
                <a:srgbClr val="2F36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F364F"/>
              </a:buClr>
              <a:buSzPts val="1600"/>
              <a:buChar char="•"/>
            </a:pPr>
            <a:r>
              <a:rPr lang="en-US" sz="1600" i="0" u="none">
                <a:solidFill>
                  <a:srgbClr val="2F364F"/>
                </a:solidFill>
              </a:rPr>
              <a:t>Robust and adaptable FAS framework</a:t>
            </a:r>
            <a:endParaRPr sz="1600" i="0" u="none">
              <a:solidFill>
                <a:srgbClr val="2F364F"/>
              </a:solidFill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F364F"/>
              </a:buClr>
              <a:buSzPts val="1600"/>
              <a:buChar char="•"/>
            </a:pPr>
            <a:r>
              <a:rPr lang="en-US" sz="1600" i="0" u="none">
                <a:solidFill>
                  <a:srgbClr val="2F364F"/>
                </a:solidFill>
              </a:rPr>
              <a:t>Foundation for future implementations.</a:t>
            </a:r>
            <a:endParaRPr sz="2000">
              <a:solidFill>
                <a:srgbClr val="2F364F"/>
              </a:solidFill>
            </a:endParaRPr>
          </a:p>
        </p:txBody>
      </p:sp>
      <p:sp>
        <p:nvSpPr>
          <p:cNvPr id="198" name="Google Shape;198;p20"/>
          <p:cNvSpPr txBox="1">
            <a:spLocks noGrp="1"/>
          </p:cNvSpPr>
          <p:nvPr>
            <p:ph type="ctrTitle" idx="4294967295"/>
          </p:nvPr>
        </p:nvSpPr>
        <p:spPr>
          <a:xfrm>
            <a:off x="408038" y="374079"/>
            <a:ext cx="9906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STUDY ON DEEP VISION-BASED FACE ANTI-SPOOFING METHODS</a:t>
            </a:r>
            <a:endParaRPr sz="3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936998" y="931671"/>
            <a:ext cx="281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</a:rPr>
              <a:t>Le Hoang Thien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830274" y="1300971"/>
            <a:ext cx="49413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spAutoFit/>
          </a:bodyPr>
          <a:lstStyle/>
          <a:p>
            <a:pPr marL="342900" marR="0" lvl="0" indent="-34290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b="1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University of Information Technology, Ho Chi Minh City, Vietnam</a:t>
            </a:r>
            <a:endParaRPr sz="1200">
              <a:solidFill>
                <a:schemeClr val="dk1"/>
              </a:solidFill>
            </a:endParaRPr>
          </a:p>
          <a:p>
            <a:pPr marL="342900" lvl="0" indent="-34290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600" b="1" baseline="30000">
                <a:solidFill>
                  <a:schemeClr val="dk1"/>
                </a:solidFill>
              </a:rPr>
              <a:t>2</a:t>
            </a:r>
            <a:r>
              <a:rPr lang="en-US" sz="1200" b="1" baseline="300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Vietnam National University, Ho Chi Minh City, Vietnam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125" y="9520399"/>
            <a:ext cx="4180200" cy="272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 rotWithShape="1">
          <a:blip r:embed="rId4">
            <a:alphaModFix/>
          </a:blip>
          <a:srcRect t="17808" b="26030"/>
          <a:stretch/>
        </p:blipFill>
        <p:spPr>
          <a:xfrm>
            <a:off x="773125" y="13303270"/>
            <a:ext cx="4437706" cy="16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E79B00-0D12-DD03-814E-9ABB12EEF03F}"/>
              </a:ext>
            </a:extLst>
          </p:cNvPr>
          <p:cNvSpPr/>
          <p:nvPr/>
        </p:nvSpPr>
        <p:spPr>
          <a:xfrm>
            <a:off x="-1" y="15090819"/>
            <a:ext cx="10691814" cy="946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en-US" sz="1800" b="1" dirty="0">
                <a:solidFill>
                  <a:srgbClr val="002060"/>
                </a:solidFill>
                <a:latin typeface="Open Sans" panose="020B0606030504020204" pitchFamily="34" charset="0"/>
              </a:rPr>
              <a:t>Le Hoang Thien </a:t>
            </a:r>
            <a:r>
              <a:rPr lang="en-US" sz="1800" b="1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- University of Information Technology, Ho Chi Minh City, Vietnam</a:t>
            </a:r>
            <a:endParaRPr lang="en-US" sz="2400" b="0" dirty="0">
              <a:effectLst/>
            </a:endParaRPr>
          </a:p>
          <a:p>
            <a:r>
              <a:rPr lang="en-US" sz="1800" b="1" i="0" u="none" strike="noStrike" dirty="0">
                <a:solidFill>
                  <a:srgbClr val="002060"/>
                </a:solidFill>
                <a:effectLst/>
                <a:latin typeface="Open Sans" panose="020B0606030504020204" pitchFamily="34" charset="0"/>
              </a:rPr>
              <a:t>Email: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thienlh.20@grad.uit.edu.vn</a:t>
            </a:r>
            <a:endParaRPr lang="en-US" sz="2400" b="0" dirty="0">
              <a:solidFill>
                <a:srgbClr val="002060"/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319</Words>
  <Application>Microsoft Macintosh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Times New Roman</vt:lpstr>
      <vt:lpstr>Calibri</vt:lpstr>
      <vt:lpstr>Open Sans</vt:lpstr>
      <vt:lpstr>Times</vt:lpstr>
      <vt:lpstr>Office Theme</vt:lpstr>
      <vt:lpstr>A STUDY ON DEEP VISION-BASED FACE ANTI-SPOOFING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MYC ThienLH</cp:lastModifiedBy>
  <cp:revision>4</cp:revision>
  <dcterms:modified xsi:type="dcterms:W3CDTF">2026-01-03T15:56:49Z</dcterms:modified>
</cp:coreProperties>
</file>